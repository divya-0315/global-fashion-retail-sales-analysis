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2" d="100"/>
          <a:sy n="62" d="100"/>
        </p:scale>
        <p:origin x="10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100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12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2011680" y="4389120"/>
            <a:ext cx="5120640" cy="5120640"/>
          </a:xfrm>
          <a:prstGeom prst="ellipse">
            <a:avLst/>
          </a:prstGeom>
          <a:solidFill>
            <a:srgbClr val="012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9692640" y="914400"/>
            <a:ext cx="109728" cy="109728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0332720" y="1554480"/>
            <a:ext cx="73152" cy="73152"/>
          </a:xfrm>
          <a:prstGeom prst="ellipse">
            <a:avLst/>
          </a:prstGeom>
          <a:solidFill>
            <a:srgbClr val="00A896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064240" y="640080"/>
            <a:ext cx="91440" cy="91440"/>
          </a:xfrm>
          <a:prstGeom prst="ellipse">
            <a:avLst/>
          </a:prstGeom>
          <a:solidFill>
            <a:srgbClr val="02C39A">
              <a:alpha val="9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052560" y="1920240"/>
            <a:ext cx="64008" cy="640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5669280"/>
            <a:ext cx="91440" cy="91440"/>
          </a:xfrm>
          <a:prstGeom prst="ellipse">
            <a:avLst/>
          </a:prstGeom>
          <a:solidFill>
            <a:srgbClr val="00A89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554480" y="5120640"/>
            <a:ext cx="64008" cy="64008"/>
          </a:xfrm>
          <a:prstGeom prst="ellipse">
            <a:avLst/>
          </a:prstGeom>
          <a:solidFill>
            <a:srgbClr val="02C39A">
              <a:alpha val="6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02920" y="4937760"/>
            <a:ext cx="54864" cy="54864"/>
          </a:xfrm>
          <a:prstGeom prst="ellipse">
            <a:avLst/>
          </a:prstGeom>
          <a:solidFill>
            <a:srgbClr val="FFFFFF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789920" y="5394960"/>
            <a:ext cx="82296" cy="82296"/>
          </a:xfrm>
          <a:prstGeom prst="ellipse">
            <a:avLst/>
          </a:prstGeom>
          <a:solidFill>
            <a:srgbClr val="02C39A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338560" y="5852160"/>
            <a:ext cx="54864" cy="5486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822960" y="1554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FASHION RETAIL ANALYTICS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18745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Store Location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Map</a:t>
            </a:r>
            <a:endParaRPr lang="en-US" sz="4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61188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Tableau Dashboard for Global Fashion Retail Store Performance Analysis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434840"/>
            <a:ext cx="3246120" cy="365760"/>
          </a:xfrm>
          <a:prstGeom prst="roundRect">
            <a:avLst>
              <a:gd name="adj" fmla="val 50000"/>
            </a:avLst>
          </a:prstGeom>
          <a:solidFill>
            <a:srgbClr val="012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22960" y="4434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Retail Analytics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4434840"/>
            <a:ext cx="3977640" cy="365760"/>
          </a:xfrm>
          <a:prstGeom prst="roundRect">
            <a:avLst>
              <a:gd name="adj" fmla="val 50000"/>
            </a:avLst>
          </a:prstGeom>
          <a:solidFill>
            <a:srgbClr val="012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206240" y="44348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MS Excel (Power Query, Power Pivot) + Tableau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321040" y="443484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012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8321040" y="4434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Kaggle – Global Fashion Retail Sales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6172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FB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Divyaa Shri B   |   Project Presentation   |   September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961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documentation walkthrough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6367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29971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40080" y="2299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170432" y="22448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290779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40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28529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515868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640080" y="3515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70432" y="34610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123944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4008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70432" y="4069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" y="47320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0080" y="4732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70432" y="467715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40080" y="534009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6400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170432" y="52852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Transformation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355080" y="169164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35508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85432" y="163677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355080" y="2299716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6355080" y="22997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85432" y="22448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355080" y="2907792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35508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85432" y="28529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355080" y="3515868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6355080" y="35158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85432" y="346100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Business Insights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355080" y="4123944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 txBox="1"/>
          <p:nvPr/>
        </p:nvSpPr>
        <p:spPr>
          <a:xfrm>
            <a:off x="6355080" y="4123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85432" y="4069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355080" y="473202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6355080" y="47320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885432" y="467715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355080" y="5340096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 txBox="1"/>
          <p:nvPr/>
        </p:nvSpPr>
        <p:spPr>
          <a:xfrm>
            <a:off x="6355080" y="5340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885432" y="528523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1145743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961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is reviewed through flat tables with no geographic view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SUMMARY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2231136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868680" y="2093976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view exists to connect store location with performance outcomes.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3072384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68680" y="2935224"/>
            <a:ext cx="6263640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and country-level performance patterns are difficult to identify from flat, unordered tables.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66928" y="3913632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868680" y="3776472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Converging or diverging of Revenue &amp; Profit are difficult to investigate using existing reports.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475488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868680" y="4617720"/>
            <a:ext cx="6263640" cy="59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yearly performance patterns are not connected to store geography in existing reporting.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5596128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868680" y="5458968"/>
            <a:ext cx="62636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Product-category performance cannot currently be analysed geographically through interactive filtering.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452360" y="1691640"/>
            <a:ext cx="4187952" cy="4434840"/>
          </a:xfrm>
          <a:prstGeom prst="roundRect">
            <a:avLst>
              <a:gd name="adj" fmla="val 1965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860536" y="2606040"/>
            <a:ext cx="1371600" cy="137160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258300" y="3003804"/>
            <a:ext cx="576072" cy="576072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9157716" y="290322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9383116" y="3128620"/>
            <a:ext cx="326441" cy="326441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7680960" y="4251960"/>
            <a:ext cx="3730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BLIND SPOT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680960" y="4572000"/>
            <a:ext cx="373075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and performance data are viewed separately — with no map to connect them.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45743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961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connecting store location with performance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6212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objective: visualise store performance geographically so management can identify high- and low-performing locations and compare markets.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077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4381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566928" y="3429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337560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all 30 store locations on an interactive world map using latitude &amp; longitude.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66928" y="430682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566928" y="4297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4206240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Net Revenue and Profit using marker size and colour.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517550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66928" y="5166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5074920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stores into High/Low Net Revenue – Profit quadrants.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43814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263640" y="3429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611112" y="3337560"/>
            <a:ext cx="5349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countries and individual stores by Net Revenue.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63640" y="430682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6263640" y="4297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611112" y="4206240"/>
            <a:ext cx="53492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filtering by Year, Month, Country and Category.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63640" y="5175504"/>
            <a:ext cx="219456" cy="21945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263640" y="51663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611112" y="5074920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KPIs in a consolidated scorecard view.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5743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961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interactive Tableau dashboard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276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Geographic, comparative, trend and ranking visualisations combined into one consolidated view of store performance.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2154" cy="1691640"/>
          </a:xfrm>
          <a:prstGeom prst="roundRect">
            <a:avLst>
              <a:gd name="adj" fmla="val 4865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13232" y="231343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713232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743200"/>
            <a:ext cx="2309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Store Map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3273552"/>
            <a:ext cx="2309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size = Revenue, colour = Profit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79394" y="2148840"/>
            <a:ext cx="2602154" cy="1691640"/>
          </a:xfrm>
          <a:prstGeom prst="roundRect">
            <a:avLst>
              <a:gd name="adj" fmla="val 4865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543986" y="231343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3543986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525698" y="2743200"/>
            <a:ext cx="2309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Quadrant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3525698" y="3273552"/>
            <a:ext cx="2309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High/Low Revenue vs Profit segments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0148" y="2148840"/>
            <a:ext cx="2602154" cy="1691640"/>
          </a:xfrm>
          <a:prstGeom prst="roundRect">
            <a:avLst>
              <a:gd name="adj" fmla="val 4865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374740" y="231343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374740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356452" y="2743200"/>
            <a:ext cx="2309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&amp; Profit Trend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356452" y="3273552"/>
            <a:ext cx="2309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 monthly pattern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040901" y="2148840"/>
            <a:ext cx="2602154" cy="1691640"/>
          </a:xfrm>
          <a:prstGeom prst="roundRect">
            <a:avLst>
              <a:gd name="adj" fmla="val 4865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9205493" y="231343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9205493" y="23134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187205" y="2743200"/>
            <a:ext cx="2309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Performance Chart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187205" y="3273552"/>
            <a:ext cx="2309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across 6 countries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64017" y="4114800"/>
            <a:ext cx="2602154" cy="1691640"/>
          </a:xfrm>
          <a:prstGeom prst="roundRect">
            <a:avLst>
              <a:gd name="adj" fmla="val 4865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128609" y="42793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2128609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2110321" y="4709160"/>
            <a:ext cx="2309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Performance Ranking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2110321" y="5239512"/>
            <a:ext cx="2309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ranked by Net Revenue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94771" y="4114800"/>
            <a:ext cx="2602154" cy="1691640"/>
          </a:xfrm>
          <a:prstGeom prst="roundRect">
            <a:avLst>
              <a:gd name="adj" fmla="val 4865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959363" y="42793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4959363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4941075" y="4709160"/>
            <a:ext cx="2309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Scorecards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4941075" y="5239512"/>
            <a:ext cx="2309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Profit, Margin, Store Count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625524" y="4114800"/>
            <a:ext cx="2602154" cy="1691640"/>
          </a:xfrm>
          <a:prstGeom prst="roundRect">
            <a:avLst>
              <a:gd name="adj" fmla="val 4865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790116" y="42793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7790116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7771828" y="4709160"/>
            <a:ext cx="230954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2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 Panel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7771828" y="5239512"/>
            <a:ext cx="23095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Year, Month, Country, Category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1145743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Data Pipeline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961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six-stage workflow from raw data to interactive dashboard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27632"/>
            <a:ext cx="3515258" cy="2057400"/>
          </a:xfrm>
          <a:prstGeom prst="roundRect">
            <a:avLst>
              <a:gd name="adj" fmla="val 4000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179222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13232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286000"/>
            <a:ext cx="3186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13232" y="2971800"/>
            <a:ext cx="3186074" cy="256032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13232" y="2971800"/>
            <a:ext cx="318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3282696"/>
            <a:ext cx="3186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CSV files and identify relevant source tables.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063898" y="24734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38218" y="1627632"/>
            <a:ext cx="3515258" cy="2057400"/>
          </a:xfrm>
          <a:prstGeom prst="roundRect">
            <a:avLst>
              <a:gd name="adj" fmla="val 4000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02810" y="179222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4502810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02810" y="2286000"/>
            <a:ext cx="3186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02810" y="2971800"/>
            <a:ext cx="3186074" cy="256032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502810" y="2971800"/>
            <a:ext cx="318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Excel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502810" y="3282696"/>
            <a:ext cx="3186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6 tables and determine relevant attributes.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853477" y="24734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27797" y="1627632"/>
            <a:ext cx="3515258" cy="2057400"/>
          </a:xfrm>
          <a:prstGeom prst="roundRect">
            <a:avLst>
              <a:gd name="adj" fmla="val 4000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8292389" y="1792224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8292389" y="17922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292389" y="2286000"/>
            <a:ext cx="3186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</a:t>
            </a:r>
            <a:endParaRPr lang="en-US" sz="13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8292389" y="2971800"/>
            <a:ext cx="3186074" cy="256032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8292389" y="2971800"/>
            <a:ext cx="318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8292389" y="3282696"/>
            <a:ext cx="3186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merge and prepare data for analysis.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005072"/>
            <a:ext cx="3515258" cy="2057400"/>
          </a:xfrm>
          <a:prstGeom prst="roundRect">
            <a:avLst>
              <a:gd name="adj" fmla="val 4000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13232" y="4169664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71323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13232" y="4663440"/>
            <a:ext cx="3186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13232" y="5349240"/>
            <a:ext cx="3186074" cy="256032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713232" y="5349240"/>
            <a:ext cx="318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Pivot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13232" y="5660136"/>
            <a:ext cx="3186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Store &amp; Product ↔ Transaction relationships.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063898" y="48508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338218" y="4005072"/>
            <a:ext cx="3515258" cy="2057400"/>
          </a:xfrm>
          <a:prstGeom prst="roundRect">
            <a:avLst>
              <a:gd name="adj" fmla="val 4000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502810" y="4169664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4502810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502810" y="4663440"/>
            <a:ext cx="3186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4502810" y="5349240"/>
            <a:ext cx="3186074" cy="256032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4502810" y="5349240"/>
            <a:ext cx="318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4502810" y="5660136"/>
            <a:ext cx="3186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Revenue, Cost, Profit &amp; Margin fields.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7853477" y="48508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127797" y="4005072"/>
            <a:ext cx="3515258" cy="2057400"/>
          </a:xfrm>
          <a:prstGeom prst="roundRect">
            <a:avLst>
              <a:gd name="adj" fmla="val 4000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8292389" y="4169664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8292389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8292389" y="4663440"/>
            <a:ext cx="318607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8292389" y="5349240"/>
            <a:ext cx="3186074" cy="256032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8292389" y="5349240"/>
            <a:ext cx="318607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8292389" y="5660136"/>
            <a:ext cx="31860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1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interactive Tableau dashboard.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5912968" y="37033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1145743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05–06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Understanding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961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Kaggle source files reviewed — three tables selected for the analysis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9659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from Kaggle — “Global Fashion Retail Sales Data”, provided as 6 CSV files: Customers, Employees, Discounts, Stores, Products &amp; Transactions.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889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to determine relevance to the store-location &amp; performance objective.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383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FOR THIS PROJECT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548640" y="37033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57400" y="370332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057400" y="3703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49040" y="370332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749040" y="3703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97680"/>
            <a:ext cx="5120640" cy="1600200"/>
          </a:xfrm>
          <a:prstGeom prst="roundRect">
            <a:avLst>
              <a:gd name="adj" fmla="val 5143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77240" y="44531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REQUIRED FOR THIS PROJECT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75488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— customer-level analysis is outside current scope.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— employee-level performance not required.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 — discount-period analysis not required.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172200" y="1600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1965960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355080" y="21031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35508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20391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23134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records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2587752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ID, Country, City, Latitude, Longitude → powers the geographic map.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3172968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355080" y="33101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63550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812280" y="32461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12280" y="35204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~17,940 records · 3 categories · 21 sub-categories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3794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Sub Category, Production Cost → filtering &amp; profitability.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4379976"/>
            <a:ext cx="5486400" cy="1051560"/>
          </a:xfrm>
          <a:prstGeom prst="roundRect">
            <a:avLst>
              <a:gd name="adj" fmla="val 782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6355080" y="451713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6355080" y="4517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812280" y="445312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47274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2023–2025 transaction history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355080" y="5001768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ID, Store ID, Product ID, Line Total, Transaction Type → core fact table.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45743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Transformation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961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structured steps performed in Microsoft Excel Power Query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64026" cy="1417320"/>
          </a:xfrm>
          <a:prstGeom prst="roundRect">
            <a:avLst>
              <a:gd name="adj" fmla="val 580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94944" y="174650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94944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130552"/>
            <a:ext cx="327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Source Data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514600"/>
            <a:ext cx="32714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CSV files loaded into Power Query as separate queries.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313834" y="1600200"/>
            <a:ext cx="3564026" cy="1417320"/>
          </a:xfrm>
          <a:prstGeom prst="roundRect">
            <a:avLst>
              <a:gd name="adj" fmla="val 580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460138" y="174650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460138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60138" y="2130552"/>
            <a:ext cx="327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Irrelevant Tables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460138" y="2514600"/>
            <a:ext cx="32714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Customers, Employees &amp; Discounts removed; Stores, Products &amp; Transactions retained.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079029" y="1600200"/>
            <a:ext cx="3564026" cy="1417320"/>
          </a:xfrm>
          <a:prstGeom prst="roundRect">
            <a:avLst>
              <a:gd name="adj" fmla="val 580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25333" y="174650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225333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225333" y="2130552"/>
            <a:ext cx="327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Unneeded Transaction Fields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225333" y="2514600"/>
            <a:ext cx="32714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fields dropped, incl. Customer ID, Size, Color, Employee ID, Currency, SKU.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548640" y="3154680"/>
            <a:ext cx="3564026" cy="1417320"/>
          </a:xfrm>
          <a:prstGeom prst="roundRect">
            <a:avLst>
              <a:gd name="adj" fmla="val 580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94944" y="330098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94944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" y="3685032"/>
            <a:ext cx="327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Unneeded Product Fields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94944" y="4069080"/>
            <a:ext cx="32714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Color &amp; Size dropped from the Products table.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313834" y="3154680"/>
            <a:ext cx="3564026" cy="1417320"/>
          </a:xfrm>
          <a:prstGeom prst="roundRect">
            <a:avLst>
              <a:gd name="adj" fmla="val 580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460138" y="330098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4460138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460138" y="3685032"/>
            <a:ext cx="327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 Columns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460138" y="4069080"/>
            <a:ext cx="32714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columns reordered for readability and logical structure.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8079029" y="3154680"/>
            <a:ext cx="3564026" cy="1417320"/>
          </a:xfrm>
          <a:prstGeom prst="roundRect">
            <a:avLst>
              <a:gd name="adj" fmla="val 580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225333" y="330098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8225333" y="33009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225333" y="3685032"/>
            <a:ext cx="327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Products &amp; Transactions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225333" y="4069080"/>
            <a:ext cx="32714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merged using Product ID as the matching key.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548640" y="4709160"/>
            <a:ext cx="3564026" cy="1417320"/>
          </a:xfrm>
          <a:prstGeom prst="roundRect">
            <a:avLst>
              <a:gd name="adj" fmla="val 580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694944" y="485546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694944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" y="5239512"/>
            <a:ext cx="327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Production Cost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94944" y="5623560"/>
            <a:ext cx="32714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 brought from Products into the Transactions query.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4313834" y="4709160"/>
            <a:ext cx="3564026" cy="1417320"/>
          </a:xfrm>
          <a:prstGeom prst="roundRect">
            <a:avLst>
              <a:gd name="adj" fmla="val 580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4460138" y="485546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4460138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460138" y="5239512"/>
            <a:ext cx="327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Production Cost</a:t>
            </a:r>
            <a:endParaRPr lang="en-US" sz="1150" dirty="0"/>
          </a:p>
        </p:txBody>
      </p:sp>
      <p:sp>
        <p:nvSpPr>
          <p:cNvPr id="45" name="Text 43"/>
          <p:cNvSpPr txBox="1"/>
          <p:nvPr/>
        </p:nvSpPr>
        <p:spPr>
          <a:xfrm>
            <a:off x="4460138" y="5623560"/>
            <a:ext cx="32714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a consistent field name for downstream calculations.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8079029" y="4709160"/>
            <a:ext cx="3564026" cy="1417320"/>
          </a:xfrm>
          <a:prstGeom prst="roundRect">
            <a:avLst>
              <a:gd name="adj" fmla="val 580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8225333" y="4855464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8225333" y="4855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225333" y="5239512"/>
            <a:ext cx="32714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Calculated Fields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8225333" y="5623560"/>
            <a:ext cx="327141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150"/>
              </a:lnSpc>
              <a:buNone/>
            </a:pPr>
            <a:r>
              <a:rPr lang="en-US" sz="93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custom columns added: Product Cost, Net Revenue, Adjusted Product Cost, Profit, Profit Margin %.</a:t>
            </a:r>
            <a:endParaRPr lang="en-US" sz="930" dirty="0"/>
          </a:p>
        </p:txBody>
      </p:sp>
      <p:sp>
        <p:nvSpPr>
          <p:cNvPr id="51" name="Text 49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1145743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Modeling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961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established in Power Pivot, then recreated in Tableau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187452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874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0" y="1874520"/>
            <a:ext cx="2651760" cy="914400"/>
          </a:xfrm>
          <a:prstGeom prst="roundRect">
            <a:avLst>
              <a:gd name="adj" fmla="val 9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8686800" y="1874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27448" y="3246120"/>
            <a:ext cx="2743200" cy="960120"/>
          </a:xfrm>
          <a:prstGeom prst="roundRect">
            <a:avLst>
              <a:gd name="adj" fmla="val 8571"/>
            </a:avLst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4727448" y="32461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361688" y="4251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 — Net Revenue, Profit, Profit Margin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48840" y="2788920"/>
            <a:ext cx="3950208" cy="4572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 flipH="1">
            <a:off x="6099048" y="2788920"/>
            <a:ext cx="3913632" cy="457200"/>
          </a:xfrm>
          <a:prstGeom prst="line">
            <a:avLst/>
          </a:prstGeom>
          <a:noFill/>
          <a:ln w="254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463040" y="28803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146304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281160" y="2880360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9281160" y="28803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745736"/>
            <a:ext cx="5394960" cy="1517904"/>
          </a:xfrm>
          <a:prstGeom prst="roundRect">
            <a:avLst>
              <a:gd name="adj" fmla="val 4737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77240" y="4920303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PIVOT MODEL (EXCEL)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294376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 tables: Stores, Products, Transactions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relationships built on Store ID &amp; Product ID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45352" y="4754880"/>
            <a:ext cx="5394960" cy="1508760"/>
          </a:xfrm>
          <a:prstGeom prst="roundRect">
            <a:avLst>
              <a:gd name="adj" fmla="val 4737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419088" y="49286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DATA MODEL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73952" y="5294376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2 relationships recreated after connecting the cleaned workbook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Combines geographic, product &amp; transaction data without duplication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45743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961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calculated fields built in Power Query on the Transactions table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15258" cy="2011680"/>
          </a:xfrm>
          <a:prstGeom prst="roundRect">
            <a:avLst>
              <a:gd name="adj" fmla="val 4091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94944" y="183794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94944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258568"/>
            <a:ext cx="32226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94944" y="2624328"/>
            <a:ext cx="3222650" cy="365760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694944" y="2624328"/>
            <a:ext cx="32226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Cost × Quantity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3108960"/>
            <a:ext cx="322265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unit production cost into total transaction cost.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4338218" y="1691640"/>
            <a:ext cx="3515258" cy="2011680"/>
          </a:xfrm>
          <a:prstGeom prst="roundRect">
            <a:avLst>
              <a:gd name="adj" fmla="val 4091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84522" y="183794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4484522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84522" y="2258568"/>
            <a:ext cx="32226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4522" y="2624328"/>
            <a:ext cx="3222650" cy="365760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4484522" y="2624328"/>
            <a:ext cx="32226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−Line Total  ·  Sale: Line Total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484522" y="3108960"/>
            <a:ext cx="322265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revenue for returned transactions.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8127797" y="1691640"/>
            <a:ext cx="3515258" cy="2011680"/>
          </a:xfrm>
          <a:prstGeom prst="roundRect">
            <a:avLst>
              <a:gd name="adj" fmla="val 4091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74101" y="183794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8274101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74101" y="2258568"/>
            <a:ext cx="32226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Product Cost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74101" y="2624328"/>
            <a:ext cx="3222650" cy="365760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8274101" y="2624328"/>
            <a:ext cx="32226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−Product Cost  ·  Sale: Product Cost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274101" y="3108960"/>
            <a:ext cx="322265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cost for returned transactions.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2443429" y="3977640"/>
            <a:ext cx="3515258" cy="2011680"/>
          </a:xfrm>
          <a:prstGeom prst="roundRect">
            <a:avLst>
              <a:gd name="adj" fmla="val 4091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589733" y="412394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2589733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2589733" y="4544568"/>
            <a:ext cx="32226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589733" y="4910328"/>
            <a:ext cx="3222650" cy="365760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2589733" y="4910328"/>
            <a:ext cx="32226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− Adjusted Product Cost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2589733" y="5394960"/>
            <a:ext cx="322265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profitability metric used throughout the dashboard.</a:t>
            </a:r>
            <a:endParaRPr lang="en-US" sz="970" dirty="0"/>
          </a:p>
        </p:txBody>
      </p:sp>
      <p:sp>
        <p:nvSpPr>
          <p:cNvPr id="34" name="Shape 32"/>
          <p:cNvSpPr/>
          <p:nvPr/>
        </p:nvSpPr>
        <p:spPr>
          <a:xfrm>
            <a:off x="6233008" y="3977640"/>
            <a:ext cx="3515258" cy="2011680"/>
          </a:xfrm>
          <a:prstGeom prst="roundRect">
            <a:avLst>
              <a:gd name="adj" fmla="val 4091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379312" y="412394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6379312" y="4123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379312" y="4544568"/>
            <a:ext cx="322265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 %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79312" y="4910328"/>
            <a:ext cx="3222650" cy="365760"/>
          </a:xfrm>
          <a:prstGeom prst="roundRect">
            <a:avLst>
              <a:gd name="adj" fmla="val 50000"/>
            </a:avLst>
          </a:prstGeom>
          <a:solidFill>
            <a:srgbClr val="013A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6379312" y="4910328"/>
            <a:ext cx="32226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÷ Net Revenue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379312" y="5394960"/>
            <a:ext cx="322265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97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profitability indicator, shown as a percentage.</a:t>
            </a:r>
            <a:endParaRPr lang="en-US" sz="97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45743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Development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961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Tableau Desktop — a single-page interactive analytical view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271016"/>
            <a:ext cx="2567864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548640" y="132588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₹405.91M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801368"/>
            <a:ext cx="256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Net Revenue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0824" y="1271016"/>
            <a:ext cx="2567864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3390824" y="132588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₹388.05M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3390824" y="1801368"/>
            <a:ext cx="256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33008" y="1271016"/>
            <a:ext cx="2567864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6233008" y="132588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95.6%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6233008" y="1801368"/>
            <a:ext cx="256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75191" y="1271016"/>
            <a:ext cx="2567864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9075191" y="1325880"/>
            <a:ext cx="2567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300" dirty="0"/>
          </a:p>
        </p:txBody>
      </p:sp>
      <p:sp>
        <p:nvSpPr>
          <p:cNvPr id="17" name="Text 15"/>
          <p:cNvSpPr txBox="1"/>
          <p:nvPr/>
        </p:nvSpPr>
        <p:spPr>
          <a:xfrm>
            <a:off x="9075191" y="1801368"/>
            <a:ext cx="2567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Stores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291944" y="2642616"/>
            <a:ext cx="7607808" cy="3355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0" descr="/mnt/user-data/uploads/1788587529792_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278" y="2285849"/>
            <a:ext cx="8448845" cy="3657902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48640" y="6108343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Global Store Location Performance Analysis — Tableau dashboard (local workbook)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45743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961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dashboard reveals about store and country performance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15258" cy="1874520"/>
          </a:xfrm>
          <a:prstGeom prst="roundRect">
            <a:avLst>
              <a:gd name="adj" fmla="val 4390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13232" y="185623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13232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313432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Performance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2679192"/>
            <a:ext cx="31860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₹405.91M revenue and ₹388.05M profit across 30 stores — a 95.6% profit margin.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38218" y="1691640"/>
            <a:ext cx="3515258" cy="1874520"/>
          </a:xfrm>
          <a:prstGeom prst="roundRect">
            <a:avLst>
              <a:gd name="adj" fmla="val 4390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02810" y="185623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4502810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02810" y="2313432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Leaders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02810" y="2679192"/>
            <a:ext cx="31860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España leads at ₹91.97M; the United Kingdom is lowest at ₹52.88M.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27797" y="1691640"/>
            <a:ext cx="3515258" cy="1874520"/>
          </a:xfrm>
          <a:prstGeom prst="roundRect">
            <a:avLst>
              <a:gd name="adj" fmla="val 4390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92389" y="1856232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8292389" y="1856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292389" y="2313432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Stores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92389" y="2679192"/>
            <a:ext cx="31860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Zaragoza ranks first at ₹28.67M, followed by Hamburg and Guimarães.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822192"/>
            <a:ext cx="3515258" cy="1874520"/>
          </a:xfrm>
          <a:prstGeom prst="roundRect">
            <a:avLst>
              <a:gd name="adj" fmla="val 4390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13232" y="398678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13232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4443984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Spread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" y="4809744"/>
            <a:ext cx="31860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are concentrated across Spain, France, Germany &amp; Portugal vs. the US.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38218" y="3822192"/>
            <a:ext cx="3515258" cy="1874520"/>
          </a:xfrm>
          <a:prstGeom prst="roundRect">
            <a:avLst>
              <a:gd name="adj" fmla="val 4390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502810" y="398678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4502810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502810" y="4443984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Segments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502810" y="4809744"/>
            <a:ext cx="31860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stores fall in the High Revenue – High Profit quadrant.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127797" y="3822192"/>
            <a:ext cx="3515258" cy="1874520"/>
          </a:xfrm>
          <a:prstGeom prst="roundRect">
            <a:avLst>
              <a:gd name="adj" fmla="val 4390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8292389" y="3986784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8292389" y="3986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292389" y="4443984"/>
            <a:ext cx="31860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Trend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8292389" y="4809744"/>
            <a:ext cx="318607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dip mid-year, then rise from September through December.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45743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 txBox="1"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98448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B2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Used</a:t>
            </a:r>
            <a:endParaRPr lang="en-US" sz="2900" dirty="0"/>
          </a:p>
        </p:txBody>
      </p:sp>
      <p:sp>
        <p:nvSpPr>
          <p:cNvPr id="5" name="Text 3"/>
          <p:cNvSpPr txBox="1"/>
          <p:nvPr/>
        </p:nvSpPr>
        <p:spPr>
          <a:xfrm>
            <a:off x="1298448" y="896112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technology stack behind data preparation and dashboard delivery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49808" y="189280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49808" y="18928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18470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847088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the Global Fashion Retail Sales Data CSV files.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5176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749808" y="280720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49808" y="28072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35608" y="27614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4297680" y="2761488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Storing, organising and managing source and cleaned datasets.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749808" y="372160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749808" y="3721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435608" y="36758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Power Query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297680" y="3675888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Importing, cleaning, merging and creating calculated columns.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49808" y="463600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49808" y="46360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435608" y="45902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Power Pivot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4297680" y="4590288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and validating relationships between tables.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394960"/>
            <a:ext cx="11091672" cy="749808"/>
          </a:xfrm>
          <a:prstGeom prst="roundRect">
            <a:avLst>
              <a:gd name="adj" fmla="val 10976"/>
            </a:avLst>
          </a:prstGeom>
          <a:solidFill>
            <a:srgbClr val="EAF6F5"/>
          </a:solidFill>
          <a:ln w="12700">
            <a:solidFill>
              <a:srgbClr val="CFE8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749808" y="5550408"/>
            <a:ext cx="438912" cy="438912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 txBox="1"/>
          <p:nvPr/>
        </p:nvSpPr>
        <p:spPr>
          <a:xfrm>
            <a:off x="749808" y="55504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435608" y="5504688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Desktop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5504688"/>
            <a:ext cx="7178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data, recreating relationships and building the dashboard.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652881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457432" y="652881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486400" cy="5486400"/>
          </a:xfrm>
          <a:prstGeom prst="ellipse">
            <a:avLst/>
          </a:prstGeom>
          <a:solidFill>
            <a:srgbClr val="012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9601200" y="4114800"/>
            <a:ext cx="5486400" cy="5486400"/>
          </a:xfrm>
          <a:prstGeom prst="ellipse">
            <a:avLst/>
          </a:prstGeom>
          <a:solidFill>
            <a:srgbClr val="012B3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WRAP-UP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77724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52120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000"/>
              </a:lnSpc>
              <a:buNone/>
            </a:pPr>
            <a:r>
              <a:rPr lang="en-US" sz="13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turned raw Kaggle retail data into a single interactive Tableau dashboard connecting store location with performance. Data was cleaned in Power Query, modelled in Power Pivot, and visualised in Tableau Desktop.</a:t>
            </a:r>
            <a:endParaRPr lang="en-US" sz="1300" dirty="0"/>
          </a:p>
          <a:p>
            <a:pPr marL="0" indent="0" algn="just">
              <a:lnSpc>
                <a:spcPts val="2000"/>
              </a:lnSpc>
              <a:buNone/>
            </a:pPr>
            <a:endParaRPr lang="en-US" sz="1300" dirty="0"/>
          </a:p>
          <a:p>
            <a:pPr marL="0" indent="0" algn="just">
              <a:lnSpc>
                <a:spcPts val="2000"/>
              </a:lnSpc>
              <a:buNone/>
            </a:pPr>
            <a:r>
              <a:rPr lang="en-US" sz="13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gives management a geographic, filterable view of revenue, profit and store rankings — one the original tabular reports could not provide — supporting more informed decisions on expansion, consolidation and regional strategy.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691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55080" y="21031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635508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205740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&amp; Conversion Analysis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23957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footfall data to gauge traffic vs. conversion at low-performing stores.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32918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35508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246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Cannibalisation Analysis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358444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stores within a set radius to spot overlap and inform expansion decisions.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55080" y="448056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 txBox="1"/>
          <p:nvPr/>
        </p:nvSpPr>
        <p:spPr>
          <a:xfrm>
            <a:off x="63550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44348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 Forecasting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47731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9FCF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future country- and store-level performance for planning.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Store Location Performance Map  —  Divyaa Shri B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11457432" y="64922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8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1484</Words>
  <Application>Microsoft Office PowerPoint</Application>
  <PresentationFormat>Widescreen</PresentationFormat>
  <Paragraphs>327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S0288236</cp:lastModifiedBy>
  <cp:revision>12</cp:revision>
  <dcterms:created xsi:type="dcterms:W3CDTF">2026-09-05T16:36:20Z</dcterms:created>
  <dcterms:modified xsi:type="dcterms:W3CDTF">2026-09-10T10:28:28Z</dcterms:modified>
</cp:coreProperties>
</file>